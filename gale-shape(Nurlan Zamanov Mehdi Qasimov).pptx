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3405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-1097280"/>
            <a:ext cx="3474720" cy="3474720"/>
          </a:xfrm>
          <a:prstGeom prst="ellipse">
            <a:avLst/>
          </a:prstGeom>
          <a:solidFill>
            <a:srgbClr val="1B2E45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-548640"/>
            <a:ext cx="2377440" cy="237744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Gale-Shapley Algorithm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Stable Matching Problem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4114800" cy="27432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Zamanov  ·  M.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Qas</a:t>
            </a:r>
            <a:r>
              <a:rPr lang="az-Latn-AZ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 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Stable Matching Problem?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5720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5720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" y="185623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81051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groups: </a:t>
            </a:r>
            <a:r>
              <a:rPr lang="en-US" sz="12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two equally sized groups — for example, students and universities, or job applicants and companies.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" y="26060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Preferences: </a:t>
            </a:r>
            <a:r>
              <a:rPr lang="en-US" sz="12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person in each group has a ranked list showing who they would prefer to be matched with.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" y="335584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31012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</a:t>
            </a:r>
            <a:r>
              <a:rPr lang="en-US" sz="12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matching between the two groups so that no two people would both rather be with each other than their current partner.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5488" y="410565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405993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Stability: </a:t>
            </a:r>
            <a:r>
              <a:rPr lang="en-US" sz="12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such a "rebellious pair" exists, the matching is unstable. We want to eliminate all of them.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166360" y="1261872"/>
            <a:ext cx="36576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166360" y="1261872"/>
            <a:ext cx="3657600" cy="4572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66360" y="12618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Matching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94960" y="1965960"/>
            <a:ext cx="640080" cy="50292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9496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909560" y="1965960"/>
            <a:ext cx="640080" cy="50292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90956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5040" y="2217420"/>
            <a:ext cx="18745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394960" y="2788920"/>
            <a:ext cx="640080" cy="50292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94960" y="27889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909560" y="2788920"/>
            <a:ext cx="640080" cy="50292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909560" y="27889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35040" y="3040380"/>
            <a:ext cx="18745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394960" y="3611880"/>
            <a:ext cx="640080" cy="50292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94960" y="3611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909560" y="3611880"/>
            <a:ext cx="640080" cy="50292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909560" y="3611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035040" y="3863340"/>
            <a:ext cx="18745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349240" y="4206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863840" y="4206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41605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 Definition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869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 </a:t>
            </a:r>
            <a:r>
              <a:rPr lang="en-US" sz="130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men and women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03911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list: </a:t>
            </a:r>
            <a:r>
              <a:rPr lang="en-US" sz="130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ranks all members of the opposite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66090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 </a:t>
            </a:r>
            <a:r>
              <a:rPr lang="en-US" sz="130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one-to-one pairing of all men and women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28269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Instability: </a:t>
            </a:r>
            <a:r>
              <a:rPr lang="en-US" sz="130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(m, w) where m prefers w over his current partner, and w prefers m over hers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90448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Matching: </a:t>
            </a:r>
            <a:r>
              <a:rPr lang="en-US" sz="130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matching with no instabilities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8869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Preferences (n = 3)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783080"/>
          <a:ext cx="3657600" cy="11887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846320" y="3108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</a:t>
            </a:r>
            <a:endParaRPr lang="en-US" sz="1300" dirty="0"/>
          </a:p>
        </p:txBody>
      </p:sp>
      <p:graphicFrame>
        <p:nvGraphicFramePr>
          <p:cNvPr id="1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3429000"/>
          <a:ext cx="3657600" cy="11887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Gale-Shapley Algorithm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466344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4480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gale_shapley(men_prefs, women_prefs):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Everyone starts unmatched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woman_partner = {}  # woman -&gt; man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man_partner   = {}  # man -&gt; woman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next_prop = {m: 0 for m in men_prefs}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free_men  = list(men_prefs.keys())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free_men: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 = free_men.pop(0)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 = men_prefs[m][next_prop[m]]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next_prop[m] += 1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w not in woman_partner: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Free: accept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woman_partner[w] = 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man_partner[m]   = 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m2     = woman_partner[w]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w_rank = women_prefs[w]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w_rank.index(m) &lt; w_rank.index(m2):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# Prefers new proposer: swap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woman_partner[w] = 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man_partner[m]   = 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free_men.append(m2)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free_men.append(m)  # rejected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man_partner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52060" y="92523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52060" y="916929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32120" y="81381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  </a:t>
            </a: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men and women start unmatched.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52060" y="1693326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41522" y="1700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32120" y="15727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 </a:t>
            </a: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free man proposes to his highest-ranked woman who hasn't rejected him.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52060" y="2450592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41522" y="244313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32120" y="23317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 </a:t>
            </a: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woman tentatively accepts any proposal.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52060" y="3218688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41522" y="31989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32120" y="306401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 </a:t>
            </a: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engaged woman swaps if she prefers the new proposer.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52060" y="3927348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41522" y="3932795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32120" y="38496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 </a:t>
            </a: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no free man remains. Output is stable.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Step-by-Step Trace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n=3 example from Slide 3 (men propose):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17904"/>
            <a:ext cx="8412480" cy="1728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M1 proposes to W1  →  W1 is free  →  (M1, W1) engaged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0299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M2 proposes to W2  →  W2 is free  →  (M2, W2) engaged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45059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M3 proposes to W1  →  W1 prefers M1 over M3  →  M3 rejected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87121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Engaged: (M1,W1)  (M2,W2)   Free: M3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447288"/>
            <a:ext cx="8412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4472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794760"/>
            <a:ext cx="841248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886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M3 proposes to W3  →  W3 is free  →  (M3, W3) engaged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30682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Engaged: (M1,W1)  (M2,W2)  (M3,W3)   Free: none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Properties &amp; Correctness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0972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86868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17957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step, a man crosses off at least one woman. With n² possible proposals, the algorithm always terminates in O(n²).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10972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192024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23113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always stable — meaning no two people would both prefer each other over who they are currently matched with. Everyone ends up with the best realistic option available to them.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10972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9718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297180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Optimality (Proposer-Side)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28269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man receives the best possible partner that is consistent with any stable matching — the man-optimal stable matching.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931920"/>
            <a:ext cx="109728" cy="9601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80160" y="40233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Pessimality (Receiver-Side)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33425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Conversely, every woman receives the worst partner consistent with stability. Running women-propose gives the dual result.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&amp; Complexity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Doctor–Hospital Matching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184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year, thousands of medical graduates are matched to hospitals for their residency training — fairly and automatically.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12264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University Admissions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49631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rank their preferred universities, universities rank students — an algorithm finds the best match for everyone.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990088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0540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Job Recruitment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37413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and applicants both have preferences. Stable matching ensures no one walks away wishing they'd chosen differently.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867912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9319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Internet Infrastructure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2519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service providers negotiate who carries whose traffic — these agreements follow stable matching principles.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0" y="749808"/>
            <a:ext cx="3108960" cy="4041648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06440" y="8869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806440" y="1801368"/>
            <a:ext cx="27432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06440" y="18379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806440" y="2185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06440" y="2551176"/>
            <a:ext cx="27432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06440" y="25877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806440" y="2935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06440" y="3300984"/>
            <a:ext cx="27432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06440" y="3337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 n²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806440" y="3685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06440" y="4050792"/>
            <a:ext cx="27432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06440" y="40873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 n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806440" y="4434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2926080"/>
            <a:ext cx="3200400" cy="3200400"/>
          </a:xfrm>
          <a:prstGeom prst="ellipse">
            <a:avLst/>
          </a:prstGeom>
          <a:solidFill>
            <a:srgbClr val="1B2E45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1B2E45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Gale-Shapley guarantees a stable, optimal matching in O(n²) — a beautiful result at the intersection of mathematics and real-world fairness.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 &amp; Shapley (1962) · Nobel Prize in Economics 2012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943</Words>
  <Application>Microsoft Office PowerPoint</Application>
  <PresentationFormat>On-screen Show (16:9)</PresentationFormat>
  <Paragraphs>156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Gale-Shapley Algorithm</dc:title>
  <dc:subject>PptxGenJS Presentation</dc:subject>
  <dc:creator>PptxGenJS</dc:creator>
  <cp:lastModifiedBy>Mehdi Qasimov (Aydin)</cp:lastModifiedBy>
  <cp:revision>3</cp:revision>
  <dcterms:created xsi:type="dcterms:W3CDTF">2026-05-21T06:58:28Z</dcterms:created>
  <dcterms:modified xsi:type="dcterms:W3CDTF">2026-05-22T19:23:43Z</dcterms:modified>
</cp:coreProperties>
</file>